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Кол-во моделей</c:v>
                </c:pt>
              </c:strCache>
            </c:strRef>
          </c:tx>
          <c:spPr>
            <a:solidFill>
              <a:srgbClr val="EFF0F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F0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E5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259F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Apple</c:v>
                </c:pt>
                <c:pt idx="1">
                  <c:v>Samsung</c:v>
                </c:pt>
                <c:pt idx="2">
                  <c:v>Xiaomi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8890B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A1A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8890B4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272d2cb-24bd-43c0-a25c-0db81b343fc7}"/>
      </c:ext>
    </c:extLst>
  </c:chart>
  <c:spPr>
    <a:solidFill>
      <a:srgbClr val="17172A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10"/>
          </a:solidFill>
          <a:ln w="12700">
            <a:solidFill>
              <a:srgbClr val="080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E5FF">
              <a:alpha val="9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68325" y="2038985"/>
            <a:ext cx="3657600" cy="3657600"/>
          </a:xfrm>
          <a:prstGeom prst="ellipse">
            <a:avLst/>
          </a:prstGeom>
          <a:solidFill>
            <a:srgbClr val="A259F7">
              <a:alpha val="9000"/>
            </a:srgbClr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400" dirty="0">
                <a:solidFill>
                  <a:srgbClr val="00E5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ТехноМир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ИНТЕРНЕТ-МАГАЗИН ЭЛЕКТРОНИКИ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1016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Курсовая работа по дисциплине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</a:t>
            </a:r>
            <a:r>
              <a:rPr lang="ru-RU" altLang="en-US" sz="14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Разработка сайта интернет магазина Электроники</a:t>
            </a:r>
            <a:r>
              <a:rPr lang="en-US" sz="14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Выполнил: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Липатов Евгений Сергеевич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Группа: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курс, 1 группа, ИСиП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Преподаватель: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Матыцин В.С.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ВГУ · Математический факультет · Воронеж · 202</a:t>
            </a:r>
            <a:r>
              <a:rPr lang="ru-RU" altLang="en-US" sz="10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ru-RU" altLang="en-US" sz="1000" dirty="0">
              <a:solidFill>
                <a:srgbClr val="8890B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2/10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0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Цели и задачи работы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Разработка интернет-магазина «ТехноМир» на HTML + CSS + JavaScript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160520" cy="1188720"/>
          </a:xfrm>
          <a:prstGeom prst="rect">
            <a:avLst/>
          </a:prstGeom>
          <a:solidFill>
            <a:srgbClr val="17172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62408" cy="1188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16152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🎯 Цель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Спроектировать и реализовать прототип современного интернет-магазина электроники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60520" cy="1188720"/>
          </a:xfrm>
          <a:prstGeom prst="rect">
            <a:avLst/>
          </a:prstGeom>
          <a:solidFill>
            <a:srgbClr val="17172A"/>
          </a:solidFill>
          <a:ln w="19050">
            <a:solidFill>
              <a:srgbClr val="FF5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43000"/>
            <a:ext cx="62408" cy="1188720"/>
          </a:xfrm>
          <a:prstGeom prst="rect">
            <a:avLst/>
          </a:prstGeom>
          <a:solidFill>
            <a:srgbClr val="FF5E3A"/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16152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E3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📚 Теория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Изучить применение HTML, CSS и JS в разработке e-commerce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41448"/>
            <a:ext cx="4160520" cy="1188720"/>
          </a:xfrm>
          <a:prstGeom prst="rect">
            <a:avLst/>
          </a:prstGeom>
          <a:solidFill>
            <a:srgbClr val="17172A"/>
          </a:solidFill>
          <a:ln w="19050">
            <a:solidFill>
              <a:srgbClr val="A259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41448"/>
            <a:ext cx="62408" cy="1188720"/>
          </a:xfrm>
          <a:prstGeom prst="rect">
            <a:avLst/>
          </a:prstGeom>
          <a:solidFill>
            <a:srgbClr val="A259F7"/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14600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59F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🛒 Каталог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807208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Реализовать фильтрацию по категории, бренду и году выпуска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441448"/>
            <a:ext cx="4160520" cy="1188720"/>
          </a:xfrm>
          <a:prstGeom prst="rect">
            <a:avLst/>
          </a:prstGeom>
          <a:solidFill>
            <a:srgbClr val="17172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441448"/>
            <a:ext cx="6240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514600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💳 Корзина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807208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Реализовать корзину с подсчётом суммы и управлением позициями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39896"/>
            <a:ext cx="4160520" cy="1188720"/>
          </a:xfrm>
          <a:prstGeom prst="rect">
            <a:avLst/>
          </a:prstGeom>
          <a:solidFill>
            <a:srgbClr val="17172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39896"/>
            <a:ext cx="62408" cy="1188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13048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⇄ Сравнение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105656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Реализовать сравнение характеристик до 4 устройств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739896"/>
            <a:ext cx="4160520" cy="1188720"/>
          </a:xfrm>
          <a:prstGeom prst="rect">
            <a:avLst/>
          </a:prstGeom>
          <a:solidFill>
            <a:srgbClr val="17172A"/>
          </a:solidFill>
          <a:ln w="19050">
            <a:solidFill>
              <a:srgbClr val="A259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739896"/>
            <a:ext cx="62408" cy="1188720"/>
          </a:xfrm>
          <a:prstGeom prst="rect">
            <a:avLst/>
          </a:prstGeom>
          <a:solidFill>
            <a:srgbClr val="A259F7"/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813048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59F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🖼 Фото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4105656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Подключить официальные CDN Apple, Samsung, Xiaomi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3/10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0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Актуальность темы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011680" cy="3474720"/>
          </a:xfrm>
          <a:prstGeom prst="rect">
            <a:avLst/>
          </a:prstGeom>
          <a:solidFill>
            <a:srgbClr val="17172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20116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E5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55%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8288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покупок в интернете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совершается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 мобильных устройств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914400"/>
            <a:ext cx="2011680" cy="3474720"/>
          </a:xfrm>
          <a:prstGeom prst="rect">
            <a:avLst/>
          </a:prstGeom>
          <a:solidFill>
            <a:srgbClr val="17172A"/>
          </a:solidFill>
          <a:ln w="19050">
            <a:solidFill>
              <a:srgbClr val="FF5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914400"/>
            <a:ext cx="2011680" cy="54864"/>
          </a:xfrm>
          <a:prstGeom prst="rect">
            <a:avLst/>
          </a:prstGeom>
          <a:solidFill>
            <a:srgbClr val="FF5E3A"/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18872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5E3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+15%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8288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ежегодный рост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мирового рынка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2011680" cy="3474720"/>
          </a:xfrm>
          <a:prstGeom prst="rect">
            <a:avLst/>
          </a:prstGeom>
          <a:solidFill>
            <a:srgbClr val="17172A"/>
          </a:solidFill>
          <a:ln w="19050">
            <a:solidFill>
              <a:srgbClr val="A259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14400"/>
            <a:ext cx="2011680" cy="54864"/>
          </a:xfrm>
          <a:prstGeom prst="rect">
            <a:avLst/>
          </a:prstGeom>
          <a:solidFill>
            <a:srgbClr val="A259F7"/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8872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A259F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-7%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18288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конверсия снижается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на каждую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 сек загрузки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914400"/>
            <a:ext cx="2011680" cy="3474720"/>
          </a:xfrm>
          <a:prstGeom prst="rect">
            <a:avLst/>
          </a:prstGeom>
          <a:solidFill>
            <a:srgbClr val="17172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914400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18872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C5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18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903720" y="2286000"/>
            <a:ext cx="18288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моделей смартфонов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трёх брендов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 «ТехноМир»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4/10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0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Стек технологий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651760" cy="3931920"/>
          </a:xfrm>
          <a:prstGeom prst="rect">
            <a:avLst/>
          </a:prstGeom>
          <a:solidFill>
            <a:srgbClr val="17172A"/>
          </a:solidFill>
          <a:ln w="25400">
            <a:solidFill>
              <a:srgbClr val="FF5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2651760" cy="822960"/>
          </a:xfrm>
          <a:prstGeom prst="rect">
            <a:avLst/>
          </a:prstGeom>
          <a:solidFill>
            <a:srgbClr val="FF5E3A">
              <a:alpha val="25000"/>
            </a:srgbClr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5E3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HTML5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37744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Семантическая разметка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DOM-структура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Атрибуты data-*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Медиа-элементы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3931920"/>
          </a:xfrm>
          <a:prstGeom prst="rect">
            <a:avLst/>
          </a:prstGeom>
          <a:solidFill>
            <a:srgbClr val="17172A"/>
          </a:solidFill>
          <a:ln w="25400">
            <a:solidFill>
              <a:srgbClr val="A259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822960"/>
          </a:xfrm>
          <a:prstGeom prst="rect">
            <a:avLst/>
          </a:prstGeom>
          <a:solidFill>
            <a:srgbClr val="A259F7">
              <a:alpha val="25000"/>
            </a:srgbClr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058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259F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37744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Properties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Grid &amp; Flexbox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Анимации &amp; переходы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Glassmorphism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3931920"/>
          </a:xfrm>
          <a:prstGeom prst="rect">
            <a:avLst/>
          </a:prstGeom>
          <a:solidFill>
            <a:srgbClr val="17172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14400"/>
            <a:ext cx="2651760" cy="822960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058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JavaScript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37744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 без фреймворков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Управление состоянием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 delegation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Динамический DOM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5/10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0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Архитектура SPA-приложения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931920" cy="4023360"/>
          </a:xfrm>
          <a:prstGeom prst="rect">
            <a:avLst/>
          </a:prstGeom>
          <a:solidFill>
            <a:srgbClr val="17172A"/>
          </a:solidFill>
          <a:ln w="19050">
            <a:solidFill>
              <a:srgbClr val="FF5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3931920" cy="411480"/>
          </a:xfrm>
          <a:prstGeom prst="rect">
            <a:avLst/>
          </a:prstGeom>
          <a:solidFill>
            <a:srgbClr val="FF5E3A">
              <a:alpha val="30000"/>
            </a:srgbClr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E3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❌ Традиционный MPA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65760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Перезагрузка при каждом клике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Медленная навигация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Высокая нагрузка на сервер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Мигание при переходах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Сложнее поддерживать состояние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3931920" cy="4023360"/>
          </a:xfrm>
          <a:prstGeom prst="rect">
            <a:avLst/>
          </a:prstGeom>
          <a:solidFill>
            <a:srgbClr val="17172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822960"/>
            <a:ext cx="3931920" cy="411480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8686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✅ SPA (ТехноМир)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74904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HTML загружается один раз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Мгновенная навигация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Минимальный трафик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Плавные CSS-анимации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Простое управление состоянием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24688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90B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40080"/>
            <a:ext cx="54864" cy="36576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6/10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0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Каталог товаров и фильтрация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актуальных моделей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ведущих бренда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Трёхуровневая фильтрация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Категория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166420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00E5FF">
              <a:alpha val="30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66420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📱 Смартфоны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166420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11120"/>
          </a:solidFill>
          <a:ln w="6350">
            <a:solidFill>
              <a:srgbClr val="8890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66420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💻 Ноутбуки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66420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11120"/>
          </a:solidFill>
          <a:ln w="6350">
            <a:solidFill>
              <a:srgbClr val="8890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66420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🎧 Аудио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Бренд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253288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FF5E3A">
              <a:alpha val="30000"/>
            </a:srgbClr>
          </a:solidFill>
          <a:ln w="19050">
            <a:solidFill>
              <a:srgbClr val="FF5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53288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5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253288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11120"/>
          </a:solidFill>
          <a:ln w="6350">
            <a:solidFill>
              <a:srgbClr val="8890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53288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Samsung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253288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11120"/>
          </a:solidFill>
          <a:ln w="6350">
            <a:solidFill>
              <a:srgbClr val="8890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53288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Xiaomi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Год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0" y="340156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22C55E">
              <a:alpha val="3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340156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94760" y="340156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11120"/>
          </a:solidFill>
          <a:ln w="6350">
            <a:solidFill>
              <a:srgbClr val="8890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40156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3401568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11120"/>
          </a:solidFill>
          <a:ln w="6350">
            <a:solidFill>
              <a:srgbClr val="8890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40156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8412480" cy="1325880"/>
          </a:xfrm>
          <a:prstGeom prst="rect">
            <a:avLst/>
          </a:prstGeom>
          <a:solidFill>
            <a:srgbClr val="17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66160"/>
            <a:ext cx="82296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PRODUCTS.filter(pr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 (activeCat !== 'all' &amp;&amp; pr.cat !== activeCat) return false;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 (activeBrand !== 'all' &amp;&amp; pr.brand !== activeBrand) return false;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String(pr.year) === activeYear || activeYear === 'all';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0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дизайн-система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325880" cy="10058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5564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B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--acc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#00e5ff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Основной акцент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92224" y="777240"/>
            <a:ext cx="1325880" cy="1005840"/>
          </a:xfrm>
          <a:prstGeom prst="rect">
            <a:avLst/>
          </a:prstGeom>
          <a:solidFill>
            <a:srgbClr val="FF5E3A"/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175564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B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--acc2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92224" y="201168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#ff5e3a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CTA-кнопки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777240"/>
            <a:ext cx="1325880" cy="1005840"/>
          </a:xfrm>
          <a:prstGeom prst="rect">
            <a:avLst/>
          </a:prstGeom>
          <a:solidFill>
            <a:srgbClr val="A259F7"/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75564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B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--acc3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18688" y="201168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#a259f7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Сравнение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45152" y="777240"/>
            <a:ext cx="132588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75564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B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--acc4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45152" y="201168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#22c55e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Год / успех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71616" y="777240"/>
            <a:ext cx="132588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175564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B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--bg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71616" y="201168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#080810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Фон страницы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777240"/>
            <a:ext cx="1325880" cy="1005840"/>
          </a:xfrm>
          <a:prstGeom prst="rect">
            <a:avLst/>
          </a:prstGeom>
          <a:solidFill>
            <a:srgbClr val="17172A"/>
          </a:solidFill>
          <a:ln w="12700">
            <a:solidFill>
              <a:srgbClr val="17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75564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0B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--card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98080" y="201168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#17172a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Карточки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4114800" cy="1005840"/>
          </a:xfrm>
          <a:prstGeom prst="rect">
            <a:avLst/>
          </a:prstGeom>
          <a:solidFill>
            <a:srgbClr val="17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43200"/>
            <a:ext cx="45720" cy="10058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798064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Custom Properties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310896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0F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:root { --acc: #00e5ff; }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4114800" cy="1005840"/>
          </a:xfrm>
          <a:prstGeom prst="rect">
            <a:avLst/>
          </a:prstGeom>
          <a:solidFill>
            <a:srgbClr val="17172A"/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743200"/>
            <a:ext cx="45720" cy="1005840"/>
          </a:xfrm>
          <a:prstGeom prst="rect">
            <a:avLst/>
          </a:prstGeom>
          <a:solidFill>
            <a:srgbClr val="A259F7"/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798064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259F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 Grid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310896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0F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repeat(auto-fill, minmax(300px, 1fr))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4114800" cy="1005840"/>
          </a:xfrm>
          <a:prstGeom prst="rect">
            <a:avLst/>
          </a:prstGeom>
          <a:solidFill>
            <a:srgbClr val="17172A"/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840480"/>
            <a:ext cx="45720" cy="1005840"/>
          </a:xfrm>
          <a:prstGeom prst="rect">
            <a:avLst/>
          </a:prstGeom>
          <a:solidFill>
            <a:srgbClr val="FF5E3A"/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895344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E3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Glassmorphism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" y="420624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0F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backdrop-filter: blur(22px);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840480"/>
            <a:ext cx="4114800" cy="1005840"/>
          </a:xfrm>
          <a:prstGeom prst="rect">
            <a:avLst/>
          </a:prstGeom>
          <a:solidFill>
            <a:srgbClr val="1717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840480"/>
            <a:ext cx="4572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895344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Transition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64608" y="420624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F0F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cubic-bezier(.22,1,.36,1)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40080"/>
            <a:ext cx="54864" cy="3657600"/>
          </a:xfrm>
          <a:prstGeom prst="rect">
            <a:avLst/>
          </a:prstGeom>
          <a:solidFill>
            <a:srgbClr val="FF5E3A"/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8/10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0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Корзина и модуль сравнения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4023360"/>
          </a:xfrm>
          <a:prstGeom prst="rect">
            <a:avLst/>
          </a:prstGeom>
          <a:solidFill>
            <a:srgbClr val="17172A"/>
          </a:solidFill>
          <a:ln w="19050">
            <a:solidFill>
              <a:srgbClr val="FF5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4114800" cy="457200"/>
          </a:xfrm>
          <a:prstGeom prst="rect">
            <a:avLst/>
          </a:prstGeom>
          <a:solidFill>
            <a:srgbClr val="FF5E3A">
              <a:alpha val="25000"/>
            </a:srgbClr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E3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🛒 Корзина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93192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Объект cart как единый State Store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Ключ: productId_storage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Изменение количества ±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Удаление позиции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Автоподсчёт суммы (reduce)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Значок с анимацией .pop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solidFill>
            <a:srgbClr val="17172A"/>
          </a:solidFill>
          <a:ln w="19050">
            <a:solidFill>
              <a:srgbClr val="A259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solidFill>
            <a:srgbClr val="A259F7">
              <a:alpha val="25000"/>
            </a:srgbClr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6868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59F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⇄ Сравнение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93192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Массив compareList (до 4 штук)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Toggle-логика добавления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Сбор уникальных характеристик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Динамическая HTML-таблица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Set() для дедупликации полей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flatMap + find для данных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40080"/>
            <a:ext cx="54864" cy="3657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9/10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F0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Ассортимент «ТехноМир»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822960"/>
          <a:ext cx="4389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0" y="777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90B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Ценовой диапазон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0" y="1234440"/>
            <a:ext cx="3749040" cy="731520"/>
          </a:xfrm>
          <a:prstGeom prst="rect">
            <a:avLst/>
          </a:prstGeom>
          <a:solidFill>
            <a:srgbClr val="17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0" y="1234440"/>
            <a:ext cx="45720" cy="7315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66360" y="126187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Apple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166360" y="153619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64 990 — 189 990 ₽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2148840"/>
            <a:ext cx="3749040" cy="731520"/>
          </a:xfrm>
          <a:prstGeom prst="rect">
            <a:avLst/>
          </a:prstGeom>
          <a:solidFill>
            <a:srgbClr val="17172A"/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0" y="2148840"/>
            <a:ext cx="45720" cy="731520"/>
          </a:xfrm>
          <a:prstGeom prst="rect">
            <a:avLst/>
          </a:prstGeom>
          <a:solidFill>
            <a:srgbClr val="FF5E3A"/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66360" y="217627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E3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Samsung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66360" y="245059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54 990 — 149 990 ₽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0" y="3063240"/>
            <a:ext cx="3749040" cy="731520"/>
          </a:xfrm>
          <a:prstGeom prst="rect">
            <a:avLst/>
          </a:prstGeom>
          <a:solidFill>
            <a:srgbClr val="17172A"/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0" y="3063240"/>
            <a:ext cx="45720" cy="731520"/>
          </a:xfrm>
          <a:prstGeom prst="rect">
            <a:avLst/>
          </a:prstGeom>
          <a:solidFill>
            <a:srgbClr val="A259F7"/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66360" y="309067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59F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Xiaomi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166360" y="336499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49 990 — 119 990 ₽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0" y="4160520"/>
            <a:ext cx="3749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altLang="en-US" sz="11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</a:t>
            </a:r>
            <a:r>
              <a:rPr lang="en-US" sz="11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фициальных CDN производителей: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Apple · Samsung · Xiaomi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434340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Всего 18 моделей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2023–2025 гг.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A259F7">
              <a:alpha val="8000"/>
            </a:srgbClr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F0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Выводы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04088"/>
          </a:xfrm>
          <a:prstGeom prst="rect">
            <a:avLst/>
          </a:prstGeom>
          <a:solidFill>
            <a:srgbClr val="17172A"/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45720" cy="704088"/>
          </a:xfrm>
          <a:prstGeom prst="rect">
            <a:avLst/>
          </a:prstGeom>
          <a:solidFill>
            <a:srgbClr val="FF5E3A"/>
          </a:solidFill>
          <a:ln w="12700">
            <a:solidFill>
              <a:srgbClr val="FF5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4183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E3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HTML5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941832"/>
            <a:ext cx="6766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Семантическая структура SPA создана без фреймворков — чистый JS + DOM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8412480" cy="704088"/>
          </a:xfrm>
          <a:prstGeom prst="rect">
            <a:avLst/>
          </a:prstGeom>
          <a:solidFill>
            <a:srgbClr val="17172A"/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09928"/>
            <a:ext cx="45720" cy="704088"/>
          </a:xfrm>
          <a:prstGeom prst="rect">
            <a:avLst/>
          </a:prstGeom>
          <a:solidFill>
            <a:srgbClr val="A259F7"/>
          </a:solidFill>
          <a:ln w="12700">
            <a:solidFill>
              <a:srgbClr val="A259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373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59F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CSS3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1737360"/>
            <a:ext cx="6766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Дизайн-система на переменных + Grid обеспечивает адаптивность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8412480" cy="704088"/>
          </a:xfrm>
          <a:prstGeom prst="rect">
            <a:avLst/>
          </a:prstGeom>
          <a:solidFill>
            <a:srgbClr val="17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05456"/>
            <a:ext cx="45720" cy="70408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328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532888"/>
            <a:ext cx="6766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Store + event delegation = предсказуемое поведение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300984"/>
            <a:ext cx="8412480" cy="704088"/>
          </a:xfrm>
          <a:prstGeom prst="rect">
            <a:avLst/>
          </a:prstGeom>
          <a:solidFill>
            <a:srgbClr val="1717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00984"/>
            <a:ext cx="45720" cy="7040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2841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CDN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3328416"/>
            <a:ext cx="6766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Официальные фото Apple, Samsung, Xiaomi без хранения файлов локально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8412480" cy="704088"/>
          </a:xfrm>
          <a:prstGeom prst="rect">
            <a:avLst/>
          </a:prstGeom>
          <a:solidFill>
            <a:srgbClr val="17172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96512"/>
            <a:ext cx="45720" cy="70408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2394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AAA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4123944"/>
            <a:ext cx="6766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Готовый к демонстрации прототип — база для подключения backend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Спасибо за внимание!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3216</Words>
  <Application>WPS Presentation</Application>
  <PresentationFormat>On-screen Show (16:9)</PresentationFormat>
  <Paragraphs>280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Calibri</vt:lpstr>
      <vt:lpstr>Calibri</vt:lpstr>
      <vt:lpstr>Courier New</vt:lpstr>
      <vt:lpstr>Courier New</vt:lpstr>
      <vt:lpstr>Courier New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интернет-магазина ТехноМир</dc:title>
  <dc:creator>Липатов Евгений Сергеевич</dc:creator>
  <dc:subject>PptxGenJS Presentation</dc:subject>
  <cp:lastModifiedBy>user</cp:lastModifiedBy>
  <cp:revision>3</cp:revision>
  <dcterms:created xsi:type="dcterms:W3CDTF">2026-05-16T17:46:00Z</dcterms:created>
  <dcterms:modified xsi:type="dcterms:W3CDTF">2026-05-18T14:29:53Z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61340B659C9C43809C2776E7C25032D7_12</vt:lpwstr>
  </property>
</Properties>
</file>